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6"/>
  </p:notesMasterIdLst>
  <p:sldIdLst>
    <p:sldId id="530" r:id="rId5"/>
    <p:sldId id="533" r:id="rId6"/>
    <p:sldId id="548" r:id="rId7"/>
    <p:sldId id="549" r:id="rId8"/>
    <p:sldId id="550" r:id="rId9"/>
    <p:sldId id="551" r:id="rId10"/>
    <p:sldId id="534" r:id="rId11"/>
    <p:sldId id="553" r:id="rId12"/>
    <p:sldId id="554" r:id="rId13"/>
    <p:sldId id="555" r:id="rId14"/>
    <p:sldId id="54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60" autoAdjust="0"/>
    <p:restoredTop sz="94411"/>
  </p:normalViewPr>
  <p:slideViewPr>
    <p:cSldViewPr snapToGrid="0">
      <p:cViewPr>
        <p:scale>
          <a:sx n="66" d="100"/>
          <a:sy n="66" d="100"/>
        </p:scale>
        <p:origin x="824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4/25/26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3068" y="3429000"/>
            <a:ext cx="7416800" cy="330200"/>
          </a:xfrm>
        </p:spPr>
        <p:txBody>
          <a:bodyPr/>
          <a:lstStyle/>
          <a:p>
            <a:r>
              <a:rPr lang="en-US" altLang="zh-CN" sz="3000" dirty="0"/>
              <a:t>Exoplanet Transit Depth: Theory and Distribution</a:t>
            </a:r>
            <a:endParaRPr lang="en-US" sz="3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Steven Wu</a:t>
            </a:r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9468" y="2282952"/>
            <a:ext cx="7735824" cy="1069848"/>
          </a:xfrm>
        </p:spPr>
        <p:txBody>
          <a:bodyPr/>
          <a:lstStyle/>
          <a:p>
            <a:r>
              <a:rPr lang="en-US" altLang="zh-CN" sz="4000" dirty="0"/>
              <a:t>Theory</a:t>
            </a:r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5A8CCC-EEB0-6F48-A990-08430E940BC9}"/>
              </a:ext>
            </a:extLst>
          </p:cNvPr>
          <p:cNvSpPr txBox="1"/>
          <p:nvPr/>
        </p:nvSpPr>
        <p:spPr>
          <a:xfrm>
            <a:off x="6316133" y="3505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D84E19A-8F44-AB48-8FB7-7D4CF600E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586" y="1050964"/>
            <a:ext cx="8642828" cy="537358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2564D0E-4331-E04F-B759-52D8982949EE}"/>
              </a:ext>
            </a:extLst>
          </p:cNvPr>
          <p:cNvSpPr txBox="1"/>
          <p:nvPr/>
        </p:nvSpPr>
        <p:spPr>
          <a:xfrm>
            <a:off x="4970082" y="370958"/>
            <a:ext cx="225183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000" b="1" dirty="0">
                <a:solidFill>
                  <a:schemeClr val="bg1"/>
                </a:solidFill>
                <a:latin typeface="+mj-lt"/>
              </a:rPr>
              <a:t>Transit depth</a:t>
            </a:r>
            <a:endParaRPr kumimoji="1" lang="zh-CN" altLang="en-US" sz="30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85534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A3BE59E-FDDE-9648-AB48-74CA2A8EEE52}"/>
                  </a:ext>
                </a:extLst>
              </p:cNvPr>
              <p:cNvSpPr txBox="1"/>
              <p:nvPr/>
            </p:nvSpPr>
            <p:spPr>
              <a:xfrm>
                <a:off x="3303723" y="3804833"/>
                <a:ext cx="6098582" cy="1974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3000" b="0" i="0" u="none" strike="noStrike" dirty="0"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  <a:t>where </a:t>
                </a:r>
                <a:endParaRPr lang="en-US" altLang="zh-CN" sz="3000" dirty="0">
                  <a:solidFill>
                    <a:schemeClr val="bg1"/>
                  </a:solidFill>
                  <a:latin typeface="Arial" panose="020B0604020202020204" pitchFamily="34" charset="0"/>
                </a:endParaRP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zh-CN" sz="3000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 is transit depth in percent (%)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 u="none" strike="noStrike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u="none" strike="noStrike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000" b="0" i="1" u="none" strike="noStrike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3000" b="0" i="0" u="none" strike="noStrike" dirty="0"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  <a:t> is the planet radius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 u="none" strike="noStrike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u="none" strike="noStrike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000" b="0" i="1" u="none" strike="noStrike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altLang="zh-CN" sz="3000" b="0" i="0" u="none" strike="noStrike" dirty="0"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  <a:t> is the stellar radius</a:t>
                </a:r>
                <a:endParaRPr lang="zh-CN" altLang="en-US" sz="3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A3BE59E-FDDE-9648-AB48-74CA2A8EE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723" y="3804833"/>
                <a:ext cx="6098582" cy="1974580"/>
              </a:xfrm>
              <a:prstGeom prst="rect">
                <a:avLst/>
              </a:prstGeom>
              <a:blipFill>
                <a:blip r:embed="rId2"/>
                <a:stretch>
                  <a:fillRect l="-2287" t="-3822" b="-8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F3FF6CD4-971C-BC41-8BB6-FA82042A4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410" y="1465909"/>
            <a:ext cx="4175179" cy="158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749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04180EF8-B941-9840-A03B-15DE63C96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8642" y="5489037"/>
            <a:ext cx="251829" cy="14165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EDB45A1-9EB1-424E-8293-26A2077113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52"/>
          <a:stretch/>
        </p:blipFill>
        <p:spPr>
          <a:xfrm>
            <a:off x="6514088" y="349249"/>
            <a:ext cx="5061423" cy="61595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13F0FEC-665A-0B4F-8251-2E9E10021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313" y="507785"/>
            <a:ext cx="4445000" cy="1143000"/>
          </a:xfrm>
          <a:prstGeom prst="rect">
            <a:avLst/>
          </a:prstGeom>
        </p:spPr>
      </p:pic>
      <p:sp>
        <p:nvSpPr>
          <p:cNvPr id="18" name="右箭头 17">
            <a:extLst>
              <a:ext uri="{FF2B5EF4-FFF2-40B4-BE49-F238E27FC236}">
                <a16:creationId xmlns:a16="http://schemas.microsoft.com/office/drawing/2014/main" id="{7191635F-F77B-4D4A-9C2B-37F8769EFBBD}"/>
              </a:ext>
            </a:extLst>
          </p:cNvPr>
          <p:cNvSpPr/>
          <p:nvPr/>
        </p:nvSpPr>
        <p:spPr>
          <a:xfrm rot="7330167">
            <a:off x="9955293" y="5062605"/>
            <a:ext cx="666754" cy="17877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1367FD-505D-3B4E-8B8E-ADAB53979DB4}"/>
              </a:ext>
            </a:extLst>
          </p:cNvPr>
          <p:cNvSpPr txBox="1"/>
          <p:nvPr/>
        </p:nvSpPr>
        <p:spPr>
          <a:xfrm>
            <a:off x="366655" y="2128499"/>
            <a:ext cx="599784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300" b="1" dirty="0">
                <a:solidFill>
                  <a:schemeClr val="bg1"/>
                </a:solidFill>
                <a:latin typeface="+mj-lt"/>
              </a:rPr>
              <a:t>m = 0.9655 ≈ 1</a:t>
            </a:r>
          </a:p>
          <a:p>
            <a:endParaRPr kumimoji="1" lang="en-US" altLang="zh-CN" sz="2300" b="1" dirty="0">
              <a:solidFill>
                <a:schemeClr val="bg1"/>
              </a:solidFill>
              <a:latin typeface="+mj-lt"/>
            </a:endParaRPr>
          </a:p>
          <a:p>
            <a:r>
              <a:rPr kumimoji="1" lang="en-US" altLang="zh-CN" sz="2300" b="1" dirty="0">
                <a:solidFill>
                  <a:schemeClr val="bg1"/>
                </a:solidFill>
                <a:latin typeface="+mj-lt"/>
              </a:rPr>
              <a:t>Reduced chi-square = 18253.5527 &gt;&gt; 1 </a:t>
            </a:r>
          </a:p>
          <a:p>
            <a:pPr marL="457200" indent="-457200">
              <a:buAutoNum type="arabicPeriod"/>
            </a:pPr>
            <a:r>
              <a:rPr kumimoji="1" lang="en-US" altLang="zh-CN" sz="2300" b="1" dirty="0">
                <a:solidFill>
                  <a:schemeClr val="bg1"/>
                </a:solidFill>
                <a:latin typeface="+mj-lt"/>
              </a:rPr>
              <a:t>Errors too small</a:t>
            </a:r>
          </a:p>
          <a:p>
            <a:pPr marL="457200" indent="-457200">
              <a:buAutoNum type="arabicPeriod"/>
            </a:pPr>
            <a:r>
              <a:rPr kumimoji="1" lang="en-US" altLang="zh-CN" sz="2300" b="1" dirty="0">
                <a:solidFill>
                  <a:schemeClr val="bg1"/>
                </a:solidFill>
                <a:latin typeface="+mj-lt"/>
              </a:rPr>
              <a:t>Real data is more complicated than the ideal model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3E65CA-7C28-6843-B91E-A615D8B573EB}"/>
              </a:ext>
            </a:extLst>
          </p:cNvPr>
          <p:cNvSpPr txBox="1"/>
          <p:nvPr/>
        </p:nvSpPr>
        <p:spPr>
          <a:xfrm>
            <a:off x="366656" y="4599066"/>
            <a:ext cx="423742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300" b="1" dirty="0">
                <a:solidFill>
                  <a:schemeClr val="bg1"/>
                </a:solidFill>
                <a:latin typeface="+mj-lt"/>
              </a:rPr>
              <a:t>One outlier</a:t>
            </a:r>
          </a:p>
          <a:p>
            <a:r>
              <a:rPr kumimoji="1" lang="en-US" altLang="zh-CN" sz="2300" b="1" dirty="0">
                <a:solidFill>
                  <a:schemeClr val="bg1"/>
                </a:solidFill>
                <a:latin typeface="+mj-lt"/>
              </a:rPr>
              <a:t>Unexpected small transit depth ?!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09D9BB8-5610-0441-8D5C-E3EDAB927C67}"/>
              </a:ext>
            </a:extLst>
          </p:cNvPr>
          <p:cNvSpPr txBox="1"/>
          <p:nvPr/>
        </p:nvSpPr>
        <p:spPr>
          <a:xfrm>
            <a:off x="10143987" y="4452872"/>
            <a:ext cx="913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rgbClr val="FF0000"/>
                </a:solidFill>
                <a:latin typeface="+mj-lt"/>
              </a:rPr>
              <a:t>outlier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0708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8" grpId="0"/>
      <p:bldP spid="13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8230463-B6E7-6F49-817D-5FCF94B3D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17" y="284747"/>
            <a:ext cx="11179565" cy="6288505"/>
          </a:xfrm>
          <a:prstGeom prst="rect">
            <a:avLst/>
          </a:prstGeom>
        </p:spPr>
      </p:pic>
      <p:sp>
        <p:nvSpPr>
          <p:cNvPr id="11" name="右箭头 10">
            <a:extLst>
              <a:ext uri="{FF2B5EF4-FFF2-40B4-BE49-F238E27FC236}">
                <a16:creationId xmlns:a16="http://schemas.microsoft.com/office/drawing/2014/main" id="{ADD35221-E094-224A-B291-32224AAE7ECC}"/>
              </a:ext>
            </a:extLst>
          </p:cNvPr>
          <p:cNvSpPr/>
          <p:nvPr/>
        </p:nvSpPr>
        <p:spPr>
          <a:xfrm rot="8164361">
            <a:off x="8637132" y="2901296"/>
            <a:ext cx="666754" cy="178775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7E5C779C-287A-AD4A-B825-8ED29599BCFA}"/>
              </a:ext>
            </a:extLst>
          </p:cNvPr>
          <p:cNvSpPr/>
          <p:nvPr/>
        </p:nvSpPr>
        <p:spPr>
          <a:xfrm rot="8164361">
            <a:off x="8694506" y="5311574"/>
            <a:ext cx="666754" cy="178775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3CA15AE-1A95-EC43-A651-6C1DB552CDFA}"/>
              </a:ext>
            </a:extLst>
          </p:cNvPr>
          <p:cNvSpPr txBox="1"/>
          <p:nvPr/>
        </p:nvSpPr>
        <p:spPr>
          <a:xfrm>
            <a:off x="9027882" y="2250570"/>
            <a:ext cx="225367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300" b="1" dirty="0">
                <a:solidFill>
                  <a:srgbClr val="FFFF00"/>
                </a:solidFill>
                <a:latin typeface="+mj-lt"/>
              </a:rPr>
              <a:t>Normal transit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FAB5D0F-EE7C-274A-8C7D-711200E16883}"/>
              </a:ext>
            </a:extLst>
          </p:cNvPr>
          <p:cNvSpPr txBox="1"/>
          <p:nvPr/>
        </p:nvSpPr>
        <p:spPr>
          <a:xfrm>
            <a:off x="9027882" y="4483520"/>
            <a:ext cx="225367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300" b="1" dirty="0">
                <a:solidFill>
                  <a:srgbClr val="FFFF00"/>
                </a:solidFill>
                <a:latin typeface="+mj-lt"/>
              </a:rPr>
              <a:t>Grazing transit</a:t>
            </a:r>
          </a:p>
        </p:txBody>
      </p:sp>
    </p:spTree>
    <p:extLst>
      <p:ext uri="{BB962C8B-B14F-4D97-AF65-F5344CB8AC3E}">
        <p14:creationId xmlns:p14="http://schemas.microsoft.com/office/powerpoint/2010/main" val="28656667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54818"/>
            <a:ext cx="9144000" cy="1069848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altLang="zh-CN" sz="4800" dirty="0"/>
              <a:t>Distribution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1657CAC0-C036-E841-A3CF-4E45375C92C7}"/>
              </a:ext>
            </a:extLst>
          </p:cNvPr>
          <p:cNvSpPr/>
          <p:nvPr/>
        </p:nvSpPr>
        <p:spPr>
          <a:xfrm>
            <a:off x="2025769" y="1686464"/>
            <a:ext cx="3019245" cy="300199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231CB4E-4C80-6B4F-A77A-64F97963AD7B}"/>
              </a:ext>
            </a:extLst>
          </p:cNvPr>
          <p:cNvSpPr/>
          <p:nvPr/>
        </p:nvSpPr>
        <p:spPr>
          <a:xfrm>
            <a:off x="7146984" y="1686464"/>
            <a:ext cx="3019245" cy="300199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086CA7E7-F77F-7F47-80DD-92AD4D91DEA0}"/>
              </a:ext>
            </a:extLst>
          </p:cNvPr>
          <p:cNvSpPr>
            <a:spLocks noChangeAspect="1"/>
          </p:cNvSpPr>
          <p:nvPr/>
        </p:nvSpPr>
        <p:spPr>
          <a:xfrm>
            <a:off x="8626918" y="8585836"/>
            <a:ext cx="215020" cy="242051"/>
          </a:xfrm>
          <a:prstGeom prst="roundRect">
            <a:avLst/>
          </a:prstGeom>
          <a:solidFill>
            <a:schemeClr val="bg1">
              <a:alpha val="98108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CB1B5C9-DEAD-084C-AC02-DDDDF9A9DC06}"/>
              </a:ext>
            </a:extLst>
          </p:cNvPr>
          <p:cNvSpPr/>
          <p:nvPr/>
        </p:nvSpPr>
        <p:spPr>
          <a:xfrm>
            <a:off x="2240789" y="7396606"/>
            <a:ext cx="2546231" cy="2495283"/>
          </a:xfrm>
          <a:prstGeom prst="roundRect">
            <a:avLst/>
          </a:prstGeom>
          <a:solidFill>
            <a:schemeClr val="bg1">
              <a:alpha val="98108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81075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5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1657CAC0-C036-E841-A3CF-4E45375C92C7}"/>
              </a:ext>
            </a:extLst>
          </p:cNvPr>
          <p:cNvSpPr/>
          <p:nvPr/>
        </p:nvSpPr>
        <p:spPr>
          <a:xfrm>
            <a:off x="2025769" y="1686464"/>
            <a:ext cx="3019245" cy="300199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231CB4E-4C80-6B4F-A77A-64F97963AD7B}"/>
              </a:ext>
            </a:extLst>
          </p:cNvPr>
          <p:cNvSpPr/>
          <p:nvPr/>
        </p:nvSpPr>
        <p:spPr>
          <a:xfrm>
            <a:off x="7146984" y="1686464"/>
            <a:ext cx="3019245" cy="300199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086CA7E7-F77F-7F47-80DD-92AD4D91DEA0}"/>
              </a:ext>
            </a:extLst>
          </p:cNvPr>
          <p:cNvSpPr>
            <a:spLocks noChangeAspect="1"/>
          </p:cNvSpPr>
          <p:nvPr/>
        </p:nvSpPr>
        <p:spPr>
          <a:xfrm>
            <a:off x="8549096" y="-398275"/>
            <a:ext cx="215020" cy="242051"/>
          </a:xfrm>
          <a:prstGeom prst="roundRect">
            <a:avLst/>
          </a:prstGeom>
          <a:solidFill>
            <a:schemeClr val="bg1">
              <a:alpha val="98108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D83DC9F-E598-8D4F-ADD2-DEED690431A2}"/>
              </a:ext>
            </a:extLst>
          </p:cNvPr>
          <p:cNvSpPr/>
          <p:nvPr/>
        </p:nvSpPr>
        <p:spPr>
          <a:xfrm>
            <a:off x="2262275" y="-2657547"/>
            <a:ext cx="2546231" cy="2495283"/>
          </a:xfrm>
          <a:prstGeom prst="roundRect">
            <a:avLst/>
          </a:prstGeom>
          <a:solidFill>
            <a:schemeClr val="bg1">
              <a:alpha val="98108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84574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6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2D2445A0-49D6-3B4E-8B0F-7727DD89B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95" y="1018297"/>
            <a:ext cx="7464155" cy="482140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539D87B-EE62-7A4D-B4A0-EFD0B34819F8}"/>
              </a:ext>
            </a:extLst>
          </p:cNvPr>
          <p:cNvSpPr txBox="1"/>
          <p:nvPr/>
        </p:nvSpPr>
        <p:spPr>
          <a:xfrm>
            <a:off x="8459823" y="4015902"/>
            <a:ext cx="363166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300" b="1" dirty="0">
                <a:solidFill>
                  <a:schemeClr val="bg1"/>
                </a:solidFill>
                <a:latin typeface="+mj-lt"/>
              </a:rPr>
              <a:t>Deeper transits -&gt; a large planet with a small host star</a:t>
            </a:r>
          </a:p>
          <a:p>
            <a:endParaRPr kumimoji="1" lang="en-US" altLang="zh-CN" sz="2300" b="1" dirty="0">
              <a:solidFill>
                <a:schemeClr val="bg1"/>
              </a:solidFill>
              <a:latin typeface="+mj-lt"/>
            </a:endParaRPr>
          </a:p>
          <a:p>
            <a:r>
              <a:rPr kumimoji="1" lang="en-US" altLang="zh-CN" sz="2300" b="1" dirty="0">
                <a:solidFill>
                  <a:schemeClr val="bg1"/>
                </a:solidFill>
                <a:latin typeface="+mj-lt"/>
              </a:rPr>
              <a:t>Rare</a:t>
            </a:r>
            <a:endParaRPr kumimoji="1" lang="zh-CN" altLang="en-US" sz="23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12011B-5EDF-8F49-8049-6373A6887907}"/>
              </a:ext>
            </a:extLst>
          </p:cNvPr>
          <p:cNvSpPr txBox="1"/>
          <p:nvPr/>
        </p:nvSpPr>
        <p:spPr>
          <a:xfrm>
            <a:off x="8459823" y="1522912"/>
            <a:ext cx="363166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300" b="1" dirty="0">
                <a:solidFill>
                  <a:schemeClr val="bg1"/>
                </a:solidFill>
                <a:latin typeface="+mj-lt"/>
              </a:rPr>
              <a:t>Most planets have small transit depths</a:t>
            </a:r>
          </a:p>
          <a:p>
            <a:endParaRPr lang="en-US" altLang="zh-CN" sz="1800" dirty="0">
              <a:solidFill>
                <a:srgbClr val="000000"/>
              </a:solidFill>
              <a:effectLst/>
              <a:latin typeface="STSong" panose="02010600040101010101" pitchFamily="2" charset="-122"/>
              <a:ea typeface="STSong" panose="02010600040101010101" pitchFamily="2" charset="-122"/>
            </a:endParaRPr>
          </a:p>
          <a:p>
            <a:r>
              <a:rPr kumimoji="1" lang="en-US" altLang="zh-CN" sz="2300" b="1" dirty="0">
                <a:solidFill>
                  <a:schemeClr val="bg1"/>
                </a:solidFill>
                <a:latin typeface="+mj-lt"/>
              </a:rPr>
              <a:t>Generally decreased as transit depth became larger</a:t>
            </a:r>
          </a:p>
          <a:p>
            <a:endParaRPr kumimoji="1" lang="en-US" altLang="zh-CN" sz="2300" b="1" dirty="0">
              <a:solidFill>
                <a:schemeClr val="bg1"/>
              </a:solidFill>
              <a:latin typeface="+mj-lt"/>
            </a:endParaRPr>
          </a:p>
          <a:p>
            <a:endParaRPr kumimoji="1" lang="zh-CN" altLang="en-US" sz="23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593853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6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Steven Wu</a:t>
            </a:r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C4A95C-9007-4EA6-944B-306B6F2A01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4A3FD6-E6BF-490E-B6B4-6A011394B0E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2CF8670-35D1-4455-AC7A-762B7388BE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TM66925244</Template>
  <TotalTime>0</TotalTime>
  <Words>96</Words>
  <Application>Microsoft Macintosh PowerPoint</Application>
  <PresentationFormat>宽屏</PresentationFormat>
  <Paragraphs>27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STSong</vt:lpstr>
      <vt:lpstr>Arial</vt:lpstr>
      <vt:lpstr>Calibri</vt:lpstr>
      <vt:lpstr>Cambria Math</vt:lpstr>
      <vt:lpstr>Courier New</vt:lpstr>
      <vt:lpstr>Segoe UI Light</vt:lpstr>
      <vt:lpstr>Tw Cen MT</vt:lpstr>
      <vt:lpstr>Office Theme</vt:lpstr>
      <vt:lpstr>Exoplanet Transit Depth: Theory and Distribution</vt:lpstr>
      <vt:lpstr>Theory</vt:lpstr>
      <vt:lpstr>PowerPoint 演示文稿</vt:lpstr>
      <vt:lpstr>PowerPoint 演示文稿</vt:lpstr>
      <vt:lpstr>PowerPoint 演示文稿</vt:lpstr>
      <vt:lpstr>PowerPoint 演示文稿</vt:lpstr>
      <vt:lpstr> Distribution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2022-10-27T00:37:19Z</dcterms:created>
  <dcterms:modified xsi:type="dcterms:W3CDTF">2026-04-25T21:43:33Z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